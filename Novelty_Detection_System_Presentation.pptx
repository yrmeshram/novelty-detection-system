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1409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D5D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47395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Novelty Detection System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012680" y="64739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AIML Seminar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171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171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4236415" cy="6858000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6FED"/>
                </a:solidFill>
              </a:rPr>
              <a:t>B.Tech CSE (AIML) • Academic Seminar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78992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Novelty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Detection System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658368" y="26974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C2B3A"/>
                </a:solidFill>
              </a:rPr>
              <a:t>A System for Identifying Unusual or Previously Unseen Patterns in Data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3657600"/>
            <a:ext cx="2057400" cy="256032"/>
          </a:xfrm>
          <a:prstGeom prst="roundRect">
            <a:avLst>
              <a:gd name="adj" fmla="val 28571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98748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AI • ML • Anomaly Detection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8368" y="4224528"/>
            <a:ext cx="6537960" cy="1444752"/>
          </a:xfrm>
          <a:prstGeom prst="roundRect">
            <a:avLst>
              <a:gd name="adj" fmla="val 379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45312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233F"/>
                </a:solidFill>
              </a:rPr>
              <a:t>Student: Yash Meshram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794760" y="445312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Roll No.: CM24D004</a:t>
            </a:r>
          </a:p>
        </p:txBody>
      </p:sp>
      <p:sp>
        <p:nvSpPr>
          <p:cNvPr id="12" name="Text 10"/>
          <p:cNvSpPr/>
          <p:nvPr/>
        </p:nvSpPr>
        <p:spPr>
          <a:xfrm>
            <a:off x="868680" y="48280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Department: CSE (AIML)</a:t>
            </a:r>
          </a:p>
        </p:txBody>
      </p:sp>
      <p:sp>
        <p:nvSpPr>
          <p:cNvPr id="13" name="Text 11"/>
          <p:cNvSpPr/>
          <p:nvPr/>
        </p:nvSpPr>
        <p:spPr>
          <a:xfrm>
            <a:off x="868680" y="513892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College: S. B. Jain Institute of Technology, Management &amp; Research, Nagpur</a:t>
            </a:r>
          </a:p>
        </p:txBody>
      </p:sp>
      <p:sp>
        <p:nvSpPr>
          <p:cNvPr id="14" name="Text 12"/>
          <p:cNvSpPr/>
          <p:nvPr/>
        </p:nvSpPr>
        <p:spPr>
          <a:xfrm>
            <a:off x="868680" y="5468112"/>
            <a:ext cx="5989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Subject: Pattern Recognition    Guide/Faculty: Mayuri </a:t>
            </a:r>
            <a:r>
              <a:rPr lang="en-US" sz="98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Getme</a:t>
            </a:r>
            <a:endParaRPr lang="en-US" sz="98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12480" y="685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Learn normal → detect the unexpected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49640" y="5623560"/>
            <a:ext cx="2926080" cy="0"/>
          </a:xfrm>
          <a:prstGeom prst="line">
            <a:avLst/>
          </a:prstGeom>
          <a:noFill/>
          <a:ln w="15240">
            <a:solidFill>
              <a:srgbClr val="8FA4B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641080" y="5669280"/>
            <a:ext cx="0" cy="0"/>
          </a:xfrm>
          <a:prstGeom prst="line">
            <a:avLst/>
          </a:prstGeom>
          <a:noFill/>
          <a:ln w="15240">
            <a:solidFill>
              <a:srgbClr val="8FA4B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006840" y="5074920"/>
            <a:ext cx="100584" cy="100584"/>
          </a:xfrm>
          <a:prstGeom prst="ellipse">
            <a:avLst/>
          </a:prstGeom>
          <a:solidFill>
            <a:srgbClr val="58C5B1"/>
          </a:solidFill>
          <a:ln w="12700">
            <a:solidFill>
              <a:srgbClr val="58C5B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0" y="4754880"/>
            <a:ext cx="100584" cy="100584"/>
          </a:xfrm>
          <a:prstGeom prst="ellipse">
            <a:avLst/>
          </a:prstGeom>
          <a:solidFill>
            <a:srgbClr val="58C5B1"/>
          </a:solidFill>
          <a:ln w="12700">
            <a:solidFill>
              <a:srgbClr val="58C5B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18320" y="4983480"/>
            <a:ext cx="100584" cy="100584"/>
          </a:xfrm>
          <a:prstGeom prst="ellipse">
            <a:avLst/>
          </a:prstGeom>
          <a:solidFill>
            <a:srgbClr val="58C5B1"/>
          </a:solidFill>
          <a:ln w="12700">
            <a:solidFill>
              <a:srgbClr val="58C5B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46920" y="4617720"/>
            <a:ext cx="100584" cy="100584"/>
          </a:xfrm>
          <a:prstGeom prst="ellipse">
            <a:avLst/>
          </a:prstGeom>
          <a:solidFill>
            <a:srgbClr val="58C5B1"/>
          </a:solidFill>
          <a:ln w="12700">
            <a:solidFill>
              <a:srgbClr val="58C5B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21240" y="4389120"/>
            <a:ext cx="100584" cy="100584"/>
          </a:xfrm>
          <a:prstGeom prst="ellipse">
            <a:avLst/>
          </a:prstGeom>
          <a:solidFill>
            <a:srgbClr val="58C5B1"/>
          </a:solidFill>
          <a:ln w="12700">
            <a:solidFill>
              <a:srgbClr val="58C5B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04120" y="4846320"/>
            <a:ext cx="100584" cy="100584"/>
          </a:xfrm>
          <a:prstGeom prst="ellipse">
            <a:avLst/>
          </a:prstGeom>
          <a:solidFill>
            <a:srgbClr val="58C5B1"/>
          </a:solidFill>
          <a:ln w="12700">
            <a:solidFill>
              <a:srgbClr val="58C5B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95560" y="4160520"/>
            <a:ext cx="100584" cy="100584"/>
          </a:xfrm>
          <a:prstGeom prst="ellipse">
            <a:avLst/>
          </a:prstGeom>
          <a:solidFill>
            <a:srgbClr val="58C5B1"/>
          </a:solidFill>
          <a:ln w="12700">
            <a:solidFill>
              <a:srgbClr val="58C5B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05872" y="4526280"/>
            <a:ext cx="100584" cy="100584"/>
          </a:xfrm>
          <a:prstGeom prst="ellipse">
            <a:avLst/>
          </a:prstGeom>
          <a:solidFill>
            <a:srgbClr val="58C5B1"/>
          </a:solidFill>
          <a:ln w="12700">
            <a:solidFill>
              <a:srgbClr val="58C5B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61320" y="4023360"/>
            <a:ext cx="100584" cy="100584"/>
          </a:xfrm>
          <a:prstGeom prst="ellipse">
            <a:avLst/>
          </a:prstGeom>
          <a:solidFill>
            <a:srgbClr val="58C5B1"/>
          </a:solidFill>
          <a:ln w="12700">
            <a:solidFill>
              <a:srgbClr val="58C5B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744200" y="4389120"/>
            <a:ext cx="100584" cy="100584"/>
          </a:xfrm>
          <a:prstGeom prst="ellipse">
            <a:avLst/>
          </a:prstGeom>
          <a:solidFill>
            <a:srgbClr val="58C5B1"/>
          </a:solidFill>
          <a:ln w="12700">
            <a:solidFill>
              <a:srgbClr val="58C5B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72800" y="3840480"/>
            <a:ext cx="100584" cy="100584"/>
          </a:xfrm>
          <a:prstGeom prst="ellipse">
            <a:avLst/>
          </a:prstGeom>
          <a:solidFill>
            <a:srgbClr val="58C5B1"/>
          </a:solidFill>
          <a:ln w="12700">
            <a:solidFill>
              <a:srgbClr val="58C5B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38360" y="5029200"/>
            <a:ext cx="100584" cy="100584"/>
          </a:xfrm>
          <a:prstGeom prst="ellipse">
            <a:avLst/>
          </a:prstGeom>
          <a:solidFill>
            <a:srgbClr val="58C5B1"/>
          </a:solidFill>
          <a:ln w="12700">
            <a:solidFill>
              <a:srgbClr val="58C5B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137392" y="2514600"/>
            <a:ext cx="182880" cy="182880"/>
          </a:xfrm>
          <a:prstGeom prst="ellipse">
            <a:avLst/>
          </a:prstGeom>
          <a:solidFill>
            <a:srgbClr val="E24A4A"/>
          </a:solidFill>
          <a:ln w="12700">
            <a:solidFill>
              <a:srgbClr val="E24A4A"/>
            </a:solidFill>
            <a:prstDash val="solid"/>
          </a:ln>
          <a:effectLst>
            <a:outerShdw blurRad="12700" dist="508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908792" y="277063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D4D4"/>
                </a:solidFill>
              </a:rPr>
              <a:t>Unseen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D4D4"/>
                </a:solidFill>
              </a:rPr>
              <a:t>novel point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915400" y="57424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8D9"/>
                </a:solidFill>
              </a:rPr>
              <a:t>Normal pattern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899648" y="57424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3B3"/>
                </a:solidFill>
              </a:rPr>
              <a:t>Novel</a:t>
            </a:r>
            <a:endParaRPr lang="en-US" sz="9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171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 &amp; Problem Statement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17184"/>
                </a:solidFill>
              </a:rPr>
              <a:t>Novelty detection learns what “normal” looks like and flags observations that do not fit.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36576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blurRad="19050" dist="7620" dir="2700000" algn="bl" rotWithShape="0">
              <a:srgbClr val="1A2E42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0936" y="1179576"/>
            <a:ext cx="54864" cy="1435608"/>
          </a:xfrm>
          <a:prstGeom prst="roundRect">
            <a:avLst>
              <a:gd name="adj" fmla="val 33333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98448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0233F"/>
                </a:solidFill>
              </a:rPr>
              <a:t>What is Novelty Detection?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3346704" cy="941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C2B3A"/>
                </a:solidFill>
              </a:rPr>
              <a:t>A machine-learning approach that models normal data and identifies a new observation as unusual when it deviates strongly from the learned pattern.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594360" y="2788920"/>
            <a:ext cx="3657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blurRad="19050" dist="7620" dir="2700000" algn="bl" rotWithShape="0">
              <a:srgbClr val="1A2E42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" y="2825496"/>
            <a:ext cx="54864" cy="1344168"/>
          </a:xfrm>
          <a:prstGeom prst="roundRect">
            <a:avLst>
              <a:gd name="adj" fmla="val 33333"/>
            </a:avLst>
          </a:prstGeom>
          <a:solidFill>
            <a:srgbClr val="2BAE9B"/>
          </a:solidFill>
          <a:ln w="12700">
            <a:solidFill>
              <a:srgbClr val="2BAE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944368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0233F"/>
                </a:solidFill>
              </a:rPr>
              <a:t>Why is it important?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777240" y="3246120"/>
            <a:ext cx="3346704" cy="850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C2B3A"/>
                </a:solidFill>
              </a:rPr>
              <a:t>Real systems face changing behavior, rare events, faults and attacks—often without labeled examples of every possible anomaly.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621792" y="44988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33F"/>
                </a:solidFill>
              </a:rPr>
              <a:t>Real-world examples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" y="4892040"/>
            <a:ext cx="1417320" cy="822960"/>
          </a:xfrm>
          <a:prstGeom prst="roundRect">
            <a:avLst>
              <a:gd name="adj" fmla="val 5556"/>
            </a:avLst>
          </a:prstGeom>
          <a:solidFill>
            <a:srgbClr val="EFF9F6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5056632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233F"/>
                </a:solidFill>
              </a:rPr>
              <a:t>Fraud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731520" y="5349240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617184"/>
                </a:solidFill>
              </a:rPr>
              <a:t>Transactions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2130552" y="4892040"/>
            <a:ext cx="1417320" cy="822960"/>
          </a:xfrm>
          <a:prstGeom prst="roundRect">
            <a:avLst>
              <a:gd name="adj" fmla="val 5556"/>
            </a:avLst>
          </a:prstGeom>
          <a:solidFill>
            <a:srgbClr val="F0F7FF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0280" y="5056632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233F"/>
                </a:solidFill>
              </a:rPr>
              <a:t>Cybersecurity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240280" y="5349240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617184"/>
                </a:solidFill>
              </a:rPr>
              <a:t>Intrusions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3639312" y="4892040"/>
            <a:ext cx="1417320" cy="822960"/>
          </a:xfrm>
          <a:prstGeom prst="roundRect">
            <a:avLst>
              <a:gd name="adj" fmla="val 5556"/>
            </a:avLst>
          </a:prstGeom>
          <a:solidFill>
            <a:srgbClr val="EFF9F6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5056632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233F"/>
                </a:solidFill>
              </a:rPr>
              <a:t>Manufacturing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3749040" y="5349240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617184"/>
                </a:solidFill>
              </a:rPr>
              <a:t>Defects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5699762" y="4897265"/>
            <a:ext cx="1417320" cy="822960"/>
          </a:xfrm>
          <a:prstGeom prst="roundRect">
            <a:avLst>
              <a:gd name="adj" fmla="val 5556"/>
            </a:avLst>
          </a:prstGeom>
          <a:solidFill>
            <a:srgbClr val="F0F7FF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9490" y="5061857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233F"/>
                </a:solidFill>
              </a:rPr>
              <a:t>Healthcare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5809490" y="5354465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617184"/>
                </a:solidFill>
              </a:rPr>
              <a:t>Abnormality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7208522" y="4897265"/>
            <a:ext cx="1417320" cy="822960"/>
          </a:xfrm>
          <a:prstGeom prst="roundRect">
            <a:avLst>
              <a:gd name="adj" fmla="val 5556"/>
            </a:avLst>
          </a:prstGeom>
          <a:solidFill>
            <a:srgbClr val="EFF9F6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8250" y="5061857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233F"/>
                </a:solidFill>
              </a:rPr>
              <a:t>Behavior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7318250" y="5354465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617184"/>
                </a:solidFill>
              </a:rPr>
              <a:t>Unusual users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5169410" y="1148225"/>
            <a:ext cx="6949440" cy="4617720"/>
          </a:xfrm>
          <a:prstGeom prst="roundRect">
            <a:avLst>
              <a:gd name="adj" fmla="val 990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  <p:txBody>
          <a:bodyPr/>
          <a:lstStyle/>
          <a:p>
            <a:endParaRPr lang="mr-IN" dirty="0"/>
          </a:p>
        </p:txBody>
      </p:sp>
      <p:sp>
        <p:nvSpPr>
          <p:cNvPr id="29" name="Text 27"/>
          <p:cNvSpPr/>
          <p:nvPr/>
        </p:nvSpPr>
        <p:spPr>
          <a:xfrm>
            <a:off x="5489450" y="1468265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Problem Statement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9450" y="1834025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DE8F5"/>
                </a:solidFill>
              </a:rPr>
              <a:t>Given mostly normal historical data, design a system that can recognize a previously unseen or unusual pattern and generate an alert with minimal false alarms.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535170" y="3251345"/>
            <a:ext cx="1280160" cy="1005840"/>
          </a:xfrm>
          <a:prstGeom prst="roundRect">
            <a:avLst>
              <a:gd name="adj" fmla="val 4545"/>
            </a:avLst>
          </a:prstGeom>
          <a:solidFill>
            <a:srgbClr val="173354"/>
          </a:solidFill>
          <a:ln w="25400">
            <a:solidFill>
              <a:srgbClr val="2BAE9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08322" y="3461657"/>
            <a:ext cx="1133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Normal Data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608322" y="3955433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FC1D5"/>
                </a:solidFill>
              </a:rPr>
              <a:t>Learn baseline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833618" y="3754265"/>
            <a:ext cx="347472" cy="0"/>
          </a:xfrm>
          <a:prstGeom prst="line">
            <a:avLst/>
          </a:prstGeom>
          <a:noFill/>
          <a:ln w="21590">
            <a:solidFill>
              <a:srgbClr val="6F86A1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226810" y="3251345"/>
            <a:ext cx="1280160" cy="1005840"/>
          </a:xfrm>
          <a:prstGeom prst="roundRect">
            <a:avLst>
              <a:gd name="adj" fmla="val 4545"/>
            </a:avLst>
          </a:prstGeom>
          <a:solidFill>
            <a:srgbClr val="173354"/>
          </a:solidFill>
          <a:ln w="25400">
            <a:solidFill>
              <a:srgbClr val="F29F0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99962" y="3461657"/>
            <a:ext cx="1133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New / Unusual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Pattern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299962" y="3955433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FC1D5"/>
                </a:solidFill>
              </a:rPr>
              <a:t>Deviation appears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525258" y="3754265"/>
            <a:ext cx="347472" cy="0"/>
          </a:xfrm>
          <a:prstGeom prst="line">
            <a:avLst/>
          </a:prstGeom>
          <a:noFill/>
          <a:ln w="21590">
            <a:solidFill>
              <a:srgbClr val="6F86A1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918450" y="3251345"/>
            <a:ext cx="1280160" cy="1005840"/>
          </a:xfrm>
          <a:prstGeom prst="roundRect">
            <a:avLst>
              <a:gd name="adj" fmla="val 4545"/>
            </a:avLst>
          </a:prstGeom>
          <a:solidFill>
            <a:srgbClr val="173354"/>
          </a:solidFill>
          <a:ln w="25400">
            <a:solidFill>
              <a:srgbClr val="2F6F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91602" y="3461657"/>
            <a:ext cx="1133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Detection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991602" y="3955433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FC1D5"/>
                </a:solidFill>
              </a:rPr>
              <a:t>Model scores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216898" y="3754265"/>
            <a:ext cx="347472" cy="0"/>
          </a:xfrm>
          <a:prstGeom prst="line">
            <a:avLst/>
          </a:prstGeom>
          <a:noFill/>
          <a:ln w="21590">
            <a:solidFill>
              <a:srgbClr val="6F86A1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0610090" y="3251345"/>
            <a:ext cx="1280160" cy="1005840"/>
          </a:xfrm>
          <a:prstGeom prst="roundRect">
            <a:avLst>
              <a:gd name="adj" fmla="val 4545"/>
            </a:avLst>
          </a:prstGeom>
          <a:solidFill>
            <a:srgbClr val="173354"/>
          </a:solidFill>
          <a:ln w="25400">
            <a:solidFill>
              <a:srgbClr val="E24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683242" y="3461657"/>
            <a:ext cx="1133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Alert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0683242" y="3955433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FC1D5"/>
                </a:solidFill>
              </a:rPr>
              <a:t>Action / review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535170" y="4988705"/>
            <a:ext cx="6080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BFE4D7"/>
                </a:solidFill>
              </a:rPr>
              <a:t>Key idea: unusual ≠ simply “rare” — it means “different from the learned normal behavior.”</a:t>
            </a:r>
            <a:endParaRPr lang="en-US" sz="10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7098" y="6442601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171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Novelty Detection System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17184"/>
                </a:solidFill>
              </a:rPr>
              <a:t>End-to-end pipeline from raw data to an actionable alert.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417320" cy="21488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blurRad="16510" dist="6350" dir="2700000" algn="bl" rotWithShape="0">
              <a:srgbClr val="1A2E4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1600200"/>
            <a:ext cx="530352" cy="530352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70078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2648" y="2258568"/>
            <a:ext cx="1197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33F"/>
                </a:solidFill>
              </a:rPr>
              <a:t>Input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2679192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17184"/>
                </a:solidFill>
              </a:rPr>
              <a:t>Sensors, transactions, logs, user activity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20240" y="2487168"/>
            <a:ext cx="164592" cy="0"/>
          </a:xfrm>
          <a:prstGeom prst="line">
            <a:avLst/>
          </a:prstGeom>
          <a:noFill/>
          <a:ln w="21590">
            <a:solidFill>
              <a:srgbClr val="91A7B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084832" y="1417320"/>
            <a:ext cx="1417320" cy="21488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blurRad="16510" dist="6350" dir="2700000" algn="bl" rotWithShape="0">
              <a:srgbClr val="1A2E42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23744" y="1600200"/>
            <a:ext cx="530352" cy="530352"/>
          </a:xfrm>
          <a:prstGeom prst="ellipse">
            <a:avLst/>
          </a:prstGeom>
          <a:solidFill>
            <a:srgbClr val="18A4C6"/>
          </a:solidFill>
          <a:ln w="12700">
            <a:solidFill>
              <a:srgbClr val="18A4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3744" y="170078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94560" y="2258568"/>
            <a:ext cx="1197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33F"/>
                </a:solidFill>
              </a:rPr>
              <a:t>Preprocessing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94560" y="2679192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17184"/>
                </a:solidFill>
              </a:rPr>
              <a:t>Clean, scale, handle missing values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02152" y="2487168"/>
            <a:ext cx="164592" cy="0"/>
          </a:xfrm>
          <a:prstGeom prst="line">
            <a:avLst/>
          </a:prstGeom>
          <a:noFill/>
          <a:ln w="21590">
            <a:solidFill>
              <a:srgbClr val="91A7B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666744" y="1417320"/>
            <a:ext cx="1417320" cy="21488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blurRad="16510" dist="6350" dir="2700000" algn="bl" rotWithShape="0">
              <a:srgbClr val="1A2E42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05656" y="1600200"/>
            <a:ext cx="530352" cy="530352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05656" y="170078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76472" y="2258568"/>
            <a:ext cx="1197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33F"/>
                </a:solidFill>
              </a:rPr>
              <a:t>Feature Extraction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76472" y="2679192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17184"/>
                </a:solidFill>
              </a:rPr>
              <a:t>Keep informative variables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84064" y="2487168"/>
            <a:ext cx="164592" cy="0"/>
          </a:xfrm>
          <a:prstGeom prst="line">
            <a:avLst/>
          </a:prstGeom>
          <a:noFill/>
          <a:ln w="21590">
            <a:solidFill>
              <a:srgbClr val="91A7BE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248656" y="1417320"/>
            <a:ext cx="1417320" cy="21488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blurRad="16510" dist="6350" dir="2700000" algn="bl" rotWithShape="0">
              <a:srgbClr val="1A2E42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87568" y="1600200"/>
            <a:ext cx="530352" cy="530352"/>
          </a:xfrm>
          <a:prstGeom prst="ellipse">
            <a:avLst/>
          </a:prstGeom>
          <a:solidFill>
            <a:srgbClr val="2BAE9B"/>
          </a:solidFill>
          <a:ln w="12700">
            <a:solidFill>
              <a:srgbClr val="2BAE9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87568" y="170078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58384" y="2258568"/>
            <a:ext cx="1197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33F"/>
                </a:solidFill>
              </a:rPr>
              <a:t>Detection Model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58384" y="2679192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17184"/>
                </a:solidFill>
              </a:rPr>
              <a:t>Learn normal boundary / structure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65976" y="2487168"/>
            <a:ext cx="164592" cy="0"/>
          </a:xfrm>
          <a:prstGeom prst="line">
            <a:avLst/>
          </a:prstGeom>
          <a:noFill/>
          <a:ln w="21590">
            <a:solidFill>
              <a:srgbClr val="91A7BE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830568" y="1417320"/>
            <a:ext cx="1417320" cy="21488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blurRad="16510" dist="6350" dir="2700000" algn="bl" rotWithShape="0">
              <a:srgbClr val="1A2E42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69480" y="1600200"/>
            <a:ext cx="530352" cy="530352"/>
          </a:xfrm>
          <a:prstGeom prst="ellipse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170078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40296" y="2258568"/>
            <a:ext cx="1197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33F"/>
                </a:solidFill>
              </a:rPr>
              <a:t>Novelty Score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40296" y="2679192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17184"/>
                </a:solidFill>
              </a:rPr>
              <a:t>Measure how unusual the observation is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247888" y="2487168"/>
            <a:ext cx="164592" cy="0"/>
          </a:xfrm>
          <a:prstGeom prst="line">
            <a:avLst/>
          </a:prstGeom>
          <a:noFill/>
          <a:ln w="21590">
            <a:solidFill>
              <a:srgbClr val="91A7BE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412480" y="1417320"/>
            <a:ext cx="1417320" cy="21488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blurRad="16510" dist="6350" dir="2700000" algn="bl" rotWithShape="0">
              <a:srgbClr val="1A2E42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851392" y="1600200"/>
            <a:ext cx="530352" cy="530352"/>
          </a:xfrm>
          <a:prstGeom prst="ellipse">
            <a:avLst/>
          </a:prstGeom>
          <a:solidFill>
            <a:srgbClr val="E24A4A"/>
          </a:solidFill>
          <a:ln w="12700">
            <a:solidFill>
              <a:srgbClr val="E24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51392" y="170078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522208" y="2258568"/>
            <a:ext cx="1197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33F"/>
                </a:solidFill>
              </a:rPr>
              <a:t>Classification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522208" y="2679192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17184"/>
                </a:solidFill>
              </a:rPr>
              <a:t>Normal vs. novel / anomaly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829800" y="2487168"/>
            <a:ext cx="164592" cy="0"/>
          </a:xfrm>
          <a:prstGeom prst="line">
            <a:avLst/>
          </a:prstGeom>
          <a:noFill/>
          <a:ln w="21590">
            <a:solidFill>
              <a:srgbClr val="91A7BE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994392" y="1417320"/>
            <a:ext cx="1417320" cy="21488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blurRad="16510" dist="6350" dir="2700000" algn="bl" rotWithShape="0">
              <a:srgbClr val="1A2E42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433304" y="1600200"/>
            <a:ext cx="530352" cy="53035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433304" y="170078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104120" y="2258568"/>
            <a:ext cx="1197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33F"/>
                </a:solidFill>
              </a:rPr>
              <a:t>Alert &amp; Viz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104120" y="2679192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17184"/>
                </a:solidFill>
              </a:rPr>
              <a:t>Dashboard, notification or investigation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85800" y="4005072"/>
            <a:ext cx="10835640" cy="1389888"/>
          </a:xfrm>
          <a:prstGeom prst="roundRect">
            <a:avLst>
              <a:gd name="adj" fmla="val 3289"/>
            </a:avLst>
          </a:prstGeom>
          <a:solidFill>
            <a:srgbClr val="EEF6FF"/>
          </a:solidFill>
          <a:ln w="12700">
            <a:solidFill>
              <a:srgbClr val="CFE0F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2688" y="43159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33F"/>
                </a:solidFill>
              </a:rPr>
              <a:t>How it learns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2194560" y="4160520"/>
            <a:ext cx="8823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C2B3A"/>
                </a:solidFill>
              </a:rPr>
              <a:t>Train on mostly normal observations → learn their structure → score each new observation → flag the ones that fall outside the learned normal pattern.</a:t>
            </a:r>
            <a:endParaRPr lang="en-US" sz="1220" dirty="0"/>
          </a:p>
        </p:txBody>
      </p:sp>
      <p:sp>
        <p:nvSpPr>
          <p:cNvPr id="48" name="Text 46"/>
          <p:cNvSpPr/>
          <p:nvPr/>
        </p:nvSpPr>
        <p:spPr>
          <a:xfrm>
            <a:off x="2194560" y="4754880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2F6FED"/>
                </a:solidFill>
              </a:rPr>
              <a:t>Design goal: high sensitivity to real novelty while keeping false alarms manageable.</a:t>
            </a:r>
            <a:endParaRPr lang="en-US" sz="102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171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Technologies &amp; Algorithms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17184"/>
                </a:solidFill>
              </a:rPr>
              <a:t>A simple Python stack supports the full experimentation workflow.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886200" cy="452628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blurRad="15240" dist="6350" dir="2700000" algn="bl" rotWithShape="0">
              <a:srgbClr val="1A2E42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179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F"/>
                </a:solidFill>
              </a:rPr>
              <a:t>Technologies Used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993392"/>
            <a:ext cx="219456" cy="21945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34540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52728" y="20116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1C2B3A"/>
                </a:solidFill>
              </a:rPr>
              <a:t>Python</a:t>
            </a:r>
            <a:endParaRPr lang="en-US" sz="1090" dirty="0"/>
          </a:p>
        </p:txBody>
      </p:sp>
      <p:sp>
        <p:nvSpPr>
          <p:cNvPr id="9" name="Shape 7"/>
          <p:cNvSpPr/>
          <p:nvPr/>
        </p:nvSpPr>
        <p:spPr>
          <a:xfrm>
            <a:off x="914400" y="2450592"/>
            <a:ext cx="219456" cy="21945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491740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52728" y="24688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1C2B3A"/>
                </a:solidFill>
              </a:rPr>
              <a:t>Pandas</a:t>
            </a:r>
            <a:endParaRPr lang="en-US" sz="1090" dirty="0"/>
          </a:p>
        </p:txBody>
      </p:sp>
      <p:sp>
        <p:nvSpPr>
          <p:cNvPr id="12" name="Shape 10"/>
          <p:cNvSpPr/>
          <p:nvPr/>
        </p:nvSpPr>
        <p:spPr>
          <a:xfrm>
            <a:off x="914400" y="2907792"/>
            <a:ext cx="219456" cy="21945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948940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52728" y="29260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1C2B3A"/>
                </a:solidFill>
              </a:rPr>
              <a:t>NumPy</a:t>
            </a:r>
            <a:endParaRPr lang="en-US" sz="1090" dirty="0"/>
          </a:p>
        </p:txBody>
      </p:sp>
      <p:sp>
        <p:nvSpPr>
          <p:cNvPr id="15" name="Shape 13"/>
          <p:cNvSpPr/>
          <p:nvPr/>
        </p:nvSpPr>
        <p:spPr>
          <a:xfrm>
            <a:off x="914400" y="3364992"/>
            <a:ext cx="219456" cy="219456"/>
          </a:xfrm>
          <a:prstGeom prst="ellipse">
            <a:avLst/>
          </a:prstGeom>
          <a:solidFill>
            <a:srgbClr val="2BAE9B"/>
          </a:solidFill>
          <a:ln w="12700">
            <a:solidFill>
              <a:srgbClr val="2BAE9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406140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52728" y="33832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1C2B3A"/>
                </a:solidFill>
              </a:rPr>
              <a:t>Scikit-learn</a:t>
            </a:r>
            <a:endParaRPr lang="en-US" sz="1090" dirty="0"/>
          </a:p>
        </p:txBody>
      </p:sp>
      <p:sp>
        <p:nvSpPr>
          <p:cNvPr id="18" name="Shape 16"/>
          <p:cNvSpPr/>
          <p:nvPr/>
        </p:nvSpPr>
        <p:spPr>
          <a:xfrm>
            <a:off x="914400" y="3822192"/>
            <a:ext cx="219456" cy="219456"/>
          </a:xfrm>
          <a:prstGeom prst="ellipse">
            <a:avLst/>
          </a:prstGeom>
          <a:solidFill>
            <a:srgbClr val="2BAE9B"/>
          </a:solidFill>
          <a:ln w="12700">
            <a:solidFill>
              <a:srgbClr val="2BAE9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3863340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52728" y="38404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1C2B3A"/>
                </a:solidFill>
              </a:rPr>
              <a:t>Matplotlib</a:t>
            </a:r>
            <a:endParaRPr lang="en-US" sz="1090" dirty="0"/>
          </a:p>
        </p:txBody>
      </p:sp>
      <p:sp>
        <p:nvSpPr>
          <p:cNvPr id="21" name="Shape 19"/>
          <p:cNvSpPr/>
          <p:nvPr/>
        </p:nvSpPr>
        <p:spPr>
          <a:xfrm>
            <a:off x="914400" y="4279392"/>
            <a:ext cx="219456" cy="219456"/>
          </a:xfrm>
          <a:prstGeom prst="ellipse">
            <a:avLst/>
          </a:prstGeom>
          <a:solidFill>
            <a:srgbClr val="2BAE9B"/>
          </a:solidFill>
          <a:ln w="12700">
            <a:solidFill>
              <a:srgbClr val="2BAE9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4320540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52728" y="42976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1C2B3A"/>
                </a:solidFill>
              </a:rPr>
              <a:t>Seaborn</a:t>
            </a:r>
            <a:endParaRPr lang="en-US" sz="1090" dirty="0"/>
          </a:p>
        </p:txBody>
      </p:sp>
      <p:sp>
        <p:nvSpPr>
          <p:cNvPr id="24" name="Shape 22"/>
          <p:cNvSpPr/>
          <p:nvPr/>
        </p:nvSpPr>
        <p:spPr>
          <a:xfrm>
            <a:off x="914400" y="4736592"/>
            <a:ext cx="219456" cy="219456"/>
          </a:xfrm>
          <a:prstGeom prst="ellipse">
            <a:avLst/>
          </a:prstGeom>
          <a:solidFill>
            <a:srgbClr val="2BAE9B"/>
          </a:solidFill>
          <a:ln w="12700">
            <a:solidFill>
              <a:srgbClr val="2BAE9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4777740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52728" y="47548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1C2B3A"/>
                </a:solidFill>
              </a:rPr>
              <a:t>Jupyter Notebook / VS Code</a:t>
            </a:r>
            <a:endParaRPr lang="en-US" sz="1090" dirty="0"/>
          </a:p>
        </p:txBody>
      </p:sp>
      <p:sp>
        <p:nvSpPr>
          <p:cNvPr id="27" name="Shape 25"/>
          <p:cNvSpPr/>
          <p:nvPr/>
        </p:nvSpPr>
        <p:spPr>
          <a:xfrm>
            <a:off x="868680" y="5230368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E24A4A"/>
          </a:solidFill>
          <a:ln w="12700">
            <a:solidFill>
              <a:srgbClr val="E24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5271516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PRIMARY ALGORITHM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404872" y="52303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24A4A"/>
                </a:solidFill>
              </a:rPr>
              <a:t>Isolation Forest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892040" y="1298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F"/>
                </a:solidFill>
              </a:rPr>
              <a:t>Algorithms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37760" y="17099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1C2B3A"/>
                </a:solidFill>
              </a:rPr>
              <a:t>• One-Class SVM</a:t>
            </a:r>
            <a:endParaRPr lang="en-US" sz="1060" dirty="0"/>
          </a:p>
        </p:txBody>
      </p:sp>
      <p:sp>
        <p:nvSpPr>
          <p:cNvPr id="32" name="Text 30"/>
          <p:cNvSpPr/>
          <p:nvPr/>
        </p:nvSpPr>
        <p:spPr>
          <a:xfrm>
            <a:off x="6702552" y="170992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17184"/>
                </a:solidFill>
              </a:rPr>
              <a:t>Learns a boundary around normal data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4937760" y="21854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1C2B3A"/>
                </a:solidFill>
              </a:rPr>
              <a:t>• Isolation Forest</a:t>
            </a:r>
            <a:endParaRPr lang="en-US" sz="1060" dirty="0"/>
          </a:p>
        </p:txBody>
      </p:sp>
      <p:sp>
        <p:nvSpPr>
          <p:cNvPr id="34" name="Text 32"/>
          <p:cNvSpPr/>
          <p:nvPr/>
        </p:nvSpPr>
        <p:spPr>
          <a:xfrm>
            <a:off x="6702552" y="218541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17184"/>
                </a:solidFill>
              </a:rPr>
              <a:t>Isolates unusual points quickly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4937760" y="26609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1C2B3A"/>
                </a:solidFill>
              </a:rPr>
              <a:t>• Local Outlier Factor (LOF)</a:t>
            </a:r>
            <a:endParaRPr lang="en-US" sz="1060" dirty="0"/>
          </a:p>
        </p:txBody>
      </p:sp>
      <p:sp>
        <p:nvSpPr>
          <p:cNvPr id="36" name="Text 34"/>
          <p:cNvSpPr/>
          <p:nvPr/>
        </p:nvSpPr>
        <p:spPr>
          <a:xfrm>
            <a:off x="6702552" y="266090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17184"/>
                </a:solidFill>
              </a:rPr>
              <a:t>Compares local density to neighbors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4937760" y="31363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1C2B3A"/>
                </a:solidFill>
              </a:rPr>
              <a:t>• Autoencoder</a:t>
            </a:r>
            <a:endParaRPr lang="en-US" sz="1060" dirty="0"/>
          </a:p>
        </p:txBody>
      </p:sp>
      <p:sp>
        <p:nvSpPr>
          <p:cNvPr id="38" name="Text 36"/>
          <p:cNvSpPr/>
          <p:nvPr/>
        </p:nvSpPr>
        <p:spPr>
          <a:xfrm>
            <a:off x="6702552" y="313639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17184"/>
                </a:solidFill>
              </a:rPr>
              <a:t>Reconstructs normal data; high error = novel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9006840" y="1225296"/>
            <a:ext cx="2880360" cy="4526280"/>
          </a:xfrm>
          <a:prstGeom prst="roundRect">
            <a:avLst>
              <a:gd name="adj" fmla="val 1754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81160" y="14904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Isolation Forest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308592" y="1828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D7E7"/>
                </a:solidFill>
              </a:rPr>
              <a:t>Rare / isolated points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9D7E7"/>
                </a:solidFill>
              </a:rPr>
              <a:t>need fewer random splits.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875520" y="2560320"/>
            <a:ext cx="868680" cy="438912"/>
          </a:xfrm>
          <a:prstGeom prst="roundRect">
            <a:avLst>
              <a:gd name="adj" fmla="val 8333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912096" y="2688336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split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9308592" y="3383280"/>
            <a:ext cx="868680" cy="438912"/>
          </a:xfrm>
          <a:prstGeom prst="roundRect">
            <a:avLst>
              <a:gd name="adj" fmla="val 8333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45168" y="3511296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split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10442448" y="3383280"/>
            <a:ext cx="868680" cy="438912"/>
          </a:xfrm>
          <a:prstGeom prst="roundRect">
            <a:avLst>
              <a:gd name="adj" fmla="val 8333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479024" y="3511296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split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9098280" y="4251960"/>
            <a:ext cx="868680" cy="438912"/>
          </a:xfrm>
          <a:prstGeom prst="roundRect">
            <a:avLst>
              <a:gd name="adj" fmla="val 8333"/>
            </a:avLst>
          </a:prstGeom>
          <a:solidFill>
            <a:srgbClr val="2BAE9B"/>
          </a:solidFill>
          <a:ln w="12700">
            <a:solidFill>
              <a:srgbClr val="2BAE9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34856" y="4379976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normal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10012680" y="4251960"/>
            <a:ext cx="868680" cy="438912"/>
          </a:xfrm>
          <a:prstGeom prst="roundRect">
            <a:avLst>
              <a:gd name="adj" fmla="val 8333"/>
            </a:avLst>
          </a:prstGeom>
          <a:solidFill>
            <a:srgbClr val="2BAE9B"/>
          </a:solidFill>
          <a:ln w="12700">
            <a:solidFill>
              <a:srgbClr val="2BAE9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49256" y="4379976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normal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10949939" y="4251960"/>
            <a:ext cx="868680" cy="438912"/>
          </a:xfrm>
          <a:prstGeom prst="roundRect">
            <a:avLst>
              <a:gd name="adj" fmla="val 8333"/>
            </a:avLst>
          </a:prstGeom>
          <a:solidFill>
            <a:srgbClr val="E24A4A"/>
          </a:solidFill>
          <a:ln w="12700">
            <a:solidFill>
              <a:srgbClr val="E24A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17936" y="4379976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novel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 flipH="1">
            <a:off x="9866376" y="2999232"/>
            <a:ext cx="438912" cy="406908"/>
          </a:xfrm>
          <a:prstGeom prst="line">
            <a:avLst/>
          </a:prstGeom>
          <a:noFill/>
          <a:ln w="19050">
            <a:solidFill>
              <a:srgbClr val="9FB1C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305288" y="2999232"/>
            <a:ext cx="566928" cy="384048"/>
          </a:xfrm>
          <a:prstGeom prst="line">
            <a:avLst/>
          </a:prstGeom>
          <a:noFill/>
          <a:ln w="19050">
            <a:solidFill>
              <a:srgbClr val="9FB1C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738360" y="3822192"/>
            <a:ext cx="0" cy="429768"/>
          </a:xfrm>
          <a:prstGeom prst="line">
            <a:avLst/>
          </a:prstGeom>
          <a:noFill/>
          <a:ln w="19050">
            <a:solidFill>
              <a:srgbClr val="9FB1C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738359" y="3822192"/>
            <a:ext cx="488923" cy="420624"/>
          </a:xfrm>
          <a:prstGeom prst="line">
            <a:avLst/>
          </a:prstGeom>
          <a:noFill/>
          <a:ln w="19050">
            <a:solidFill>
              <a:srgbClr val="9FB1C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095964" y="3808476"/>
            <a:ext cx="0" cy="429768"/>
          </a:xfrm>
          <a:prstGeom prst="line">
            <a:avLst/>
          </a:prstGeom>
          <a:noFill/>
          <a:ln w="19050">
            <a:solidFill>
              <a:srgbClr val="9FB1C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345168" y="491947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E5E5"/>
                </a:solidFill>
              </a:rPr>
              <a:t>Shorter path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E5E5"/>
                </a:solidFill>
              </a:rPr>
              <a:t>→ more suspicious</a:t>
            </a:r>
            <a:endParaRPr lang="en-US" sz="1000" dirty="0"/>
          </a:p>
        </p:txBody>
      </p:sp>
      <p:sp>
        <p:nvSpPr>
          <p:cNvPr id="6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171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Working, Dataset &amp; Expected Output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17184"/>
                </a:solidFill>
              </a:rPr>
              <a:t>Prototype idea: detect unusual behavior in synthetic sensor or transaction data.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594360" y="1207008"/>
            <a:ext cx="3794760" cy="5074920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blurRad="15240" dist="6350" dir="2700000" algn="bl" rotWithShape="0">
              <a:srgbClr val="1A2E42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499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F"/>
                </a:solidFill>
              </a:rPr>
              <a:t>Workflow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77824" y="1965960"/>
            <a:ext cx="237744" cy="237744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" y="200710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52728" y="199339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1C2B3A"/>
                </a:solidFill>
              </a:rPr>
              <a:t>Collect normal data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877824" y="2441448"/>
            <a:ext cx="237744" cy="237744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77824" y="2482596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52728" y="246888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1C2B3A"/>
                </a:solidFill>
              </a:rPr>
              <a:t>Clean &amp; preprocess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877824" y="2916936"/>
            <a:ext cx="237744" cy="237744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7824" y="295808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52728" y="294436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1C2B3A"/>
                </a:solidFill>
              </a:rPr>
              <a:t>Select key features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877824" y="3392424"/>
            <a:ext cx="237744" cy="237744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7824" y="343357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52728" y="341985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1C2B3A"/>
                </a:solidFill>
              </a:rPr>
              <a:t>Train Isolation Forest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877824" y="3867912"/>
            <a:ext cx="237744" cy="237744"/>
          </a:xfrm>
          <a:prstGeom prst="ellipse">
            <a:avLst/>
          </a:prstGeom>
          <a:solidFill>
            <a:srgbClr val="2BAE9B"/>
          </a:solidFill>
          <a:ln w="12700">
            <a:solidFill>
              <a:srgbClr val="2BAE9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77824" y="390906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52728" y="3895344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1C2B3A"/>
                </a:solidFill>
              </a:rPr>
              <a:t>Feed new / unseen data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877824" y="4343400"/>
            <a:ext cx="237744" cy="237744"/>
          </a:xfrm>
          <a:prstGeom prst="ellipse">
            <a:avLst/>
          </a:prstGeom>
          <a:solidFill>
            <a:srgbClr val="2BAE9B"/>
          </a:solidFill>
          <a:ln w="12700">
            <a:solidFill>
              <a:srgbClr val="2BAE9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77824" y="438454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52728" y="437083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1C2B3A"/>
                </a:solidFill>
              </a:rPr>
              <a:t>Compute anomaly score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877824" y="4818888"/>
            <a:ext cx="237744" cy="237744"/>
          </a:xfrm>
          <a:prstGeom prst="ellipse">
            <a:avLst/>
          </a:prstGeom>
          <a:solidFill>
            <a:srgbClr val="2BAE9B"/>
          </a:solidFill>
          <a:ln w="12700">
            <a:solidFill>
              <a:srgbClr val="2BAE9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77824" y="4860036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52728" y="484632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1C2B3A"/>
                </a:solidFill>
              </a:rPr>
              <a:t>Normal vs. unusual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877824" y="5294376"/>
            <a:ext cx="237744" cy="237744"/>
          </a:xfrm>
          <a:prstGeom prst="ellipse">
            <a:avLst/>
          </a:prstGeom>
          <a:solidFill>
            <a:srgbClr val="2BAE9B"/>
          </a:solidFill>
          <a:ln w="12700">
            <a:solidFill>
              <a:srgbClr val="2BAE9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77824" y="533552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52728" y="532180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1C2B3A"/>
                </a:solidFill>
              </a:rPr>
              <a:t>Visualize &amp; alert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4645152" y="1207008"/>
            <a:ext cx="6922008" cy="1143000"/>
          </a:xfrm>
          <a:prstGeom prst="roundRect">
            <a:avLst>
              <a:gd name="adj" fmla="val 4000"/>
            </a:avLst>
          </a:prstGeom>
          <a:solidFill>
            <a:srgbClr val="EEF6FF"/>
          </a:solidFill>
          <a:ln w="12700">
            <a:solidFill>
              <a:srgbClr val="CFE0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14356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33F"/>
                </a:solidFill>
              </a:rPr>
              <a:t>Suggested dataset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355080" y="14356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2F6FED"/>
                </a:solidFill>
              </a:rPr>
              <a:t>Synthetic sensor / transaction dataset</a:t>
            </a:r>
            <a:endParaRPr lang="en-US" sz="1140" dirty="0"/>
          </a:p>
        </p:txBody>
      </p:sp>
      <p:sp>
        <p:nvSpPr>
          <p:cNvPr id="33" name="Text 31"/>
          <p:cNvSpPr/>
          <p:nvPr/>
        </p:nvSpPr>
        <p:spPr>
          <a:xfrm>
            <a:off x="4937760" y="1810512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17184"/>
                </a:solidFill>
              </a:rPr>
              <a:t>Temperature • Pressure • Vibration • Speed • Voltage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4645152" y="2560320"/>
            <a:ext cx="6922008" cy="3703320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280720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0233F"/>
                </a:solidFill>
              </a:rPr>
              <a:t>Expected output: normal cluster + clearly separated novel points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5166360" y="5806440"/>
            <a:ext cx="5715000" cy="0"/>
          </a:xfrm>
          <a:prstGeom prst="line">
            <a:avLst/>
          </a:prstGeom>
          <a:noFill/>
          <a:ln w="15240">
            <a:solidFill>
              <a:srgbClr val="9CB0C4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257800" y="5879592"/>
            <a:ext cx="0" cy="0"/>
          </a:xfrm>
          <a:prstGeom prst="line">
            <a:avLst/>
          </a:prstGeom>
          <a:noFill/>
          <a:ln w="15240">
            <a:solidFill>
              <a:srgbClr val="9CB0C4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749808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17184"/>
                </a:solidFill>
              </a:rPr>
              <a:t>Feature 1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 rot="16200000">
            <a:off x="4617720" y="4114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17184"/>
                </a:solidFill>
              </a:rPr>
              <a:t>Feature 2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897880" y="5120640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44768" y="4709160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55080" y="4919472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01968" y="4498848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29984" y="4892040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31152" y="4645152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50608" y="5074920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24928" y="4425696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07808" y="4754880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18120" y="4187952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10144" y="4572000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47888" y="4334256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412480" y="4041648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613648" y="4553712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96528" y="4279392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00800" y="5303520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183880" y="4892040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979408" y="4498848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189720" y="4069080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315200" y="5303520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921240" y="3429000"/>
            <a:ext cx="164592" cy="164592"/>
          </a:xfrm>
          <a:prstGeom prst="ellipse">
            <a:avLst/>
          </a:prstGeom>
          <a:solidFill>
            <a:srgbClr val="E24A4A"/>
          </a:solidFill>
          <a:ln w="12700">
            <a:solidFill>
              <a:srgbClr val="E24A4A"/>
            </a:solidFill>
            <a:prstDash val="solid"/>
          </a:ln>
          <a:effectLst>
            <a:outerShdw blurRad="12700" dist="508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10424160" y="3657600"/>
            <a:ext cx="164592" cy="164592"/>
          </a:xfrm>
          <a:prstGeom prst="ellipse">
            <a:avLst/>
          </a:prstGeom>
          <a:solidFill>
            <a:srgbClr val="E24A4A"/>
          </a:solidFill>
          <a:ln w="12700">
            <a:solidFill>
              <a:srgbClr val="E24A4A"/>
            </a:solidFill>
            <a:prstDash val="solid"/>
          </a:ln>
          <a:effectLst>
            <a:outerShdw blurRad="12700" dist="508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10789920" y="2971800"/>
            <a:ext cx="164592" cy="164592"/>
          </a:xfrm>
          <a:prstGeom prst="ellipse">
            <a:avLst/>
          </a:prstGeom>
          <a:solidFill>
            <a:srgbClr val="E24A4A"/>
          </a:solidFill>
          <a:ln w="12700">
            <a:solidFill>
              <a:srgbClr val="E24A4A"/>
            </a:solidFill>
            <a:prstDash val="solid"/>
          </a:ln>
          <a:effectLst>
            <a:outerShdw blurRad="12700" dist="508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9646920" y="3127248"/>
            <a:ext cx="1600200" cy="1143000"/>
          </a:xfrm>
          <a:prstGeom prst="ellipse">
            <a:avLst/>
          </a:prstGeom>
          <a:solidFill>
            <a:srgbClr val="E24A4A">
              <a:alpha val="10000"/>
            </a:srgbClr>
          </a:solidFill>
          <a:ln w="15240">
            <a:solidFill>
              <a:srgbClr val="E24A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765792" y="27249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24A4A"/>
                </a:solidFill>
              </a:rPr>
              <a:t>Novel / Alert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989320" y="4069080"/>
            <a:ext cx="3063240" cy="1417320"/>
          </a:xfrm>
          <a:prstGeom prst="ellipse">
            <a:avLst/>
          </a:prstGeom>
          <a:solidFill>
            <a:srgbClr val="27AE60">
              <a:alpha val="5000"/>
            </a:srgbClr>
          </a:solidFill>
          <a:ln w="13970">
            <a:solidFill>
              <a:srgbClr val="27AE6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56832" y="55046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7AE60"/>
                </a:solidFill>
              </a:rPr>
              <a:t>Normal region</a:t>
            </a:r>
            <a:endParaRPr lang="en-US" sz="920" dirty="0"/>
          </a:p>
        </p:txBody>
      </p:sp>
      <p:sp>
        <p:nvSpPr>
          <p:cNvPr id="6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171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Applications, Advantages &amp; Future Scope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17184"/>
                </a:solidFill>
              </a:rPr>
              <a:t>Why novelty detection matters across intelligent and connected systems.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594360" y="1243584"/>
            <a:ext cx="3520440" cy="4370832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blurRad="15240" dist="6350" dir="2700000" algn="bl" rotWithShape="0">
              <a:srgbClr val="1A2E4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271016"/>
            <a:ext cx="3465576" cy="530352"/>
          </a:xfrm>
          <a:prstGeom prst="roundRect">
            <a:avLst>
              <a:gd name="adj" fmla="val 6897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4475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Applications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95528" y="1993392"/>
            <a:ext cx="201168" cy="20116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95528" y="203454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4712" y="1993392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C2B3A"/>
                </a:solidFill>
              </a:rPr>
              <a:t>Fraud Detection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795528" y="2468880"/>
            <a:ext cx="201168" cy="20116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5528" y="251002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24712" y="2468880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C2B3A"/>
                </a:solidFill>
              </a:rPr>
              <a:t>Cybersecurity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95528" y="2944368"/>
            <a:ext cx="201168" cy="20116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5528" y="2985516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24712" y="2944368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C2B3A"/>
                </a:solidFill>
              </a:rPr>
              <a:t>Healthcare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95528" y="3419856"/>
            <a:ext cx="201168" cy="20116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95528" y="3461004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24712" y="3419856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C2B3A"/>
                </a:solidFill>
              </a:rPr>
              <a:t>Industrial Monitoring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95528" y="3895344"/>
            <a:ext cx="201168" cy="20116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95528" y="3936492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24712" y="3895344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C2B3A"/>
                </a:solidFill>
              </a:rPr>
              <a:t>IoT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795528" y="4370832"/>
            <a:ext cx="201168" cy="20116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95528" y="441198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24712" y="4370832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C2B3A"/>
                </a:solidFill>
              </a:rPr>
              <a:t>Network Traffic Monitoring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795528" y="4846320"/>
            <a:ext cx="201168" cy="20116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95528" y="488746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24712" y="4846320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C2B3A"/>
                </a:solidFill>
              </a:rPr>
              <a:t>Credit Card Transactions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325112" y="1243584"/>
            <a:ext cx="3429000" cy="4370832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blurRad="15240" dist="6350" dir="2700000" algn="bl" rotWithShape="0">
              <a:srgbClr val="1A2E42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52544" y="1271016"/>
            <a:ext cx="3374136" cy="530352"/>
          </a:xfrm>
          <a:prstGeom prst="roundRect">
            <a:avLst>
              <a:gd name="adj" fmla="val 6897"/>
            </a:avLst>
          </a:prstGeom>
          <a:solidFill>
            <a:srgbClr val="2BAE9B"/>
          </a:solidFill>
          <a:ln w="12700">
            <a:solidFill>
              <a:srgbClr val="2BAE9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07992" y="144475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Advantages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526280" y="1993392"/>
            <a:ext cx="201168" cy="201168"/>
          </a:xfrm>
          <a:prstGeom prst="ellipse">
            <a:avLst/>
          </a:prstGeom>
          <a:solidFill>
            <a:srgbClr val="2BAE9B"/>
          </a:solidFill>
          <a:ln w="12700">
            <a:solidFill>
              <a:srgbClr val="2BAE9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26280" y="203454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55464" y="1993392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C2B3A"/>
                </a:solidFill>
              </a:rPr>
              <a:t>Detects previously unseen patterns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4526280" y="2468880"/>
            <a:ext cx="201168" cy="201168"/>
          </a:xfrm>
          <a:prstGeom prst="ellipse">
            <a:avLst/>
          </a:prstGeom>
          <a:solidFill>
            <a:srgbClr val="2BAE9B"/>
          </a:solidFill>
          <a:ln w="12700">
            <a:solidFill>
              <a:srgbClr val="2BAE9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26280" y="251002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55464" y="2468880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C2B3A"/>
                </a:solidFill>
              </a:rPr>
              <a:t>Does not need every anomaly class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4526280" y="2944368"/>
            <a:ext cx="201168" cy="201168"/>
          </a:xfrm>
          <a:prstGeom prst="ellipse">
            <a:avLst/>
          </a:prstGeom>
          <a:solidFill>
            <a:srgbClr val="2BAE9B"/>
          </a:solidFill>
          <a:ln w="12700">
            <a:solidFill>
              <a:srgbClr val="2BAE9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26280" y="2985516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55464" y="2944368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C2B3A"/>
                </a:solidFill>
              </a:rPr>
              <a:t>Can work with unlabeled data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4526280" y="3419856"/>
            <a:ext cx="201168" cy="201168"/>
          </a:xfrm>
          <a:prstGeom prst="ellipse">
            <a:avLst/>
          </a:prstGeom>
          <a:solidFill>
            <a:srgbClr val="2BAE9B"/>
          </a:solidFill>
          <a:ln w="12700">
            <a:solidFill>
              <a:srgbClr val="2BAE9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26280" y="3461004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55464" y="3419856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C2B3A"/>
                </a:solidFill>
              </a:rPr>
              <a:t>Useful for real-time monitoring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4526280" y="3895344"/>
            <a:ext cx="201168" cy="201168"/>
          </a:xfrm>
          <a:prstGeom prst="ellipse">
            <a:avLst/>
          </a:prstGeom>
          <a:solidFill>
            <a:srgbClr val="2BAE9B"/>
          </a:solidFill>
          <a:ln w="12700">
            <a:solidFill>
              <a:srgbClr val="2BAE9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526280" y="3936492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55464" y="3895344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C2B3A"/>
                </a:solidFill>
              </a:rPr>
              <a:t>Supports early warning systems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7973568" y="1243584"/>
            <a:ext cx="3611880" cy="4370832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blurRad="15240" dist="6350" dir="2700000" algn="bl" rotWithShape="0">
              <a:srgbClr val="1A2E42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001000" y="1271016"/>
            <a:ext cx="3557016" cy="530352"/>
          </a:xfrm>
          <a:prstGeom prst="roundRect">
            <a:avLst>
              <a:gd name="adj" fmla="val 6897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56448" y="14447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Future Scope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174736" y="1993392"/>
            <a:ext cx="201168" cy="20116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174736" y="203454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503920" y="1993392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C2B3A"/>
                </a:solidFill>
              </a:rPr>
              <a:t>Real-time streaming data</a:t>
            </a:r>
            <a:endParaRPr lang="en-US" sz="1020" dirty="0"/>
          </a:p>
        </p:txBody>
      </p:sp>
      <p:sp>
        <p:nvSpPr>
          <p:cNvPr id="52" name="Shape 50"/>
          <p:cNvSpPr/>
          <p:nvPr/>
        </p:nvSpPr>
        <p:spPr>
          <a:xfrm>
            <a:off x="8174736" y="2468880"/>
            <a:ext cx="201168" cy="20116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174736" y="251002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503920" y="2468880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C2B3A"/>
                </a:solidFill>
              </a:rPr>
              <a:t>Deep-learning Autoencoders</a:t>
            </a:r>
            <a:endParaRPr lang="en-US" sz="1020" dirty="0"/>
          </a:p>
        </p:txBody>
      </p:sp>
      <p:sp>
        <p:nvSpPr>
          <p:cNvPr id="55" name="Shape 53"/>
          <p:cNvSpPr/>
          <p:nvPr/>
        </p:nvSpPr>
        <p:spPr>
          <a:xfrm>
            <a:off x="8174736" y="2944368"/>
            <a:ext cx="201168" cy="20116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8174736" y="2985516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503920" y="2944368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C2B3A"/>
                </a:solidFill>
              </a:rPr>
              <a:t>Explainable AI (XAI)</a:t>
            </a:r>
            <a:endParaRPr lang="en-US" sz="1020" dirty="0"/>
          </a:p>
        </p:txBody>
      </p:sp>
      <p:sp>
        <p:nvSpPr>
          <p:cNvPr id="58" name="Shape 56"/>
          <p:cNvSpPr/>
          <p:nvPr/>
        </p:nvSpPr>
        <p:spPr>
          <a:xfrm>
            <a:off x="8174736" y="3419856"/>
            <a:ext cx="201168" cy="20116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174736" y="3461004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503920" y="3419856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C2B3A"/>
                </a:solidFill>
              </a:rPr>
              <a:t>Cloud deployment</a:t>
            </a:r>
            <a:endParaRPr lang="en-US" sz="1020" dirty="0"/>
          </a:p>
        </p:txBody>
      </p:sp>
      <p:sp>
        <p:nvSpPr>
          <p:cNvPr id="61" name="Shape 59"/>
          <p:cNvSpPr/>
          <p:nvPr/>
        </p:nvSpPr>
        <p:spPr>
          <a:xfrm>
            <a:off x="8174736" y="3895344"/>
            <a:ext cx="201168" cy="20116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8174736" y="3936492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8503920" y="3895344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C2B3A"/>
                </a:solidFill>
              </a:rPr>
              <a:t>Real-time dashboards</a:t>
            </a:r>
            <a:endParaRPr lang="en-US" sz="1020" dirty="0"/>
          </a:p>
        </p:txBody>
      </p:sp>
      <p:sp>
        <p:nvSpPr>
          <p:cNvPr id="64" name="Shape 62"/>
          <p:cNvSpPr/>
          <p:nvPr/>
        </p:nvSpPr>
        <p:spPr>
          <a:xfrm>
            <a:off x="8174736" y="4370832"/>
            <a:ext cx="201168" cy="20116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8174736" y="441198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8503920" y="4370832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C2B3A"/>
                </a:solidFill>
              </a:rPr>
              <a:t>IoT sensor integration</a:t>
            </a:r>
            <a:endParaRPr lang="en-US" sz="1020" dirty="0"/>
          </a:p>
        </p:txBody>
      </p:sp>
      <p:sp>
        <p:nvSpPr>
          <p:cNvPr id="67" name="Shape 65"/>
          <p:cNvSpPr/>
          <p:nvPr/>
        </p:nvSpPr>
        <p:spPr>
          <a:xfrm>
            <a:off x="594360" y="5806440"/>
            <a:ext cx="10991088" cy="438912"/>
          </a:xfrm>
          <a:prstGeom prst="roundRect">
            <a:avLst>
              <a:gd name="adj" fmla="val 8333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8680" y="5925312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“Novelty Detection helps intelligent systems recognize what they have not seen before.”</a:t>
            </a:r>
            <a:endParaRPr lang="en-US" sz="1120" dirty="0"/>
          </a:p>
        </p:txBody>
      </p:sp>
      <p:sp>
        <p:nvSpPr>
          <p:cNvPr id="69" name="Text 67"/>
          <p:cNvSpPr/>
          <p:nvPr/>
        </p:nvSpPr>
        <p:spPr>
          <a:xfrm>
            <a:off x="658368" y="630936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17184"/>
                </a:solidFill>
              </a:rPr>
              <a:t>References: Scikit-learn documentation • Liu, Ting &amp; Zhou (2008), Isolation Forest • Chandola, Banerjee &amp; Kumar (2009), Anomaly Detection survey</a:t>
            </a:r>
            <a:endParaRPr lang="en-US" sz="750" dirty="0"/>
          </a:p>
        </p:txBody>
      </p:sp>
      <p:sp>
        <p:nvSpPr>
          <p:cNvPr id="7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171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687</Words>
  <Application>Microsoft Office PowerPoint</Application>
  <PresentationFormat>Widescreen</PresentationFormat>
  <Paragraphs>191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Novelty Detection System</dc:title>
  <dc:subject>Novelty Detection System</dc:subject>
  <dc:creator>OpenAI</dc:creator>
  <cp:lastModifiedBy>vickky gharde</cp:lastModifiedBy>
  <cp:revision>2</cp:revision>
  <dcterms:created xsi:type="dcterms:W3CDTF">2026-08-17T05:31:58Z</dcterms:created>
  <dcterms:modified xsi:type="dcterms:W3CDTF">2026-08-17T05:46:35Z</dcterms:modified>
</cp:coreProperties>
</file>